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344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Тема моей научно-исследовательской работы — построение и исследование поисковой модели на основе датасета CISI. В работе была не просто изучена теория, а реализован полный экспериментальный цикл: от чтения исходных файлов до оценки качества поисковой выдачи.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кратко о данных. CISI состоит из трех частей: документов, запросов и файла релевантности. Именно файл CISI.REL делает датасет удобным для исследования, потому что дает возможность считать формальные метрики качества.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Актуальность темы связана с тем, что большинство полезных данных хранится в текстовом виде. Для пользователя важно не только найти документы, но и увидеть самые релевантные результаты в первых строках. Поэтому классические методы поиска остаются важными даже на фоне современных нейросетевых систем.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работе было несколько проблем. Первая — техническая: нужно разобрать файлы датасета. Вторая — лингвистическая: нужно нормализовать слова. Третья — поисковая: нужно не просто найти документы, а ранжировать их. И четвертая — исследовательская: нужно измерить качество.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построить и исследовать поисковую модель на CISI. Для этого нужно пройти весь цикл: разобрать данные, подготовить текст, построить индексы, реализовать модели и сравнить их по метрикам.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пример того, как выглядят исходные данные. Документы размечены маркерами, а запросы сформулированы естественным языком. Для запроса номер 1 есть 46 эталонно релевантных документов, поэтому можно проверять качество поиска.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Общая схема решения состоит из шести этапов: чтение файлов, парсинг, предобработка, построение индекса, ранжирование и оценка качества. Это позволяет отдельно проверять каждый компонент и сравнивать разные варианты.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Предобработка заметно меняет словарь. Очистка удаляет стоп-слова и пунктуацию, но главный эффект дал стемминг: число уникальных токенов снизилось с 12618 до 6936. Для небольшой коллекции это полезно, потому что разные формы слова начинают совпадать.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пример показывает, почему стемминг был выбран как основной вариант. Он менее лингвистически точен, чем лемматизация, но для небольшого корпуса лучше объединяет близкие формы слов и помогает не потерять релевантные документы.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Инвертированный индекс позволяет перейти от полного перебора к быстрому поиску по словам. Для TF-IDF и BM25 индекс хранит дополнительные статистики: частоты, IDF и длину документа.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работе реализовано три метода. Булев поиск используется как простая отправная точка. TF-IDF учитывает частоту и редкость терма. BM25 улучшает эту идею за счет насыщения частоты и нормализации длины документа, поэтому он выбран как основной.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Булев поиск на запросе номер 1 нашел 1034 документа из 1460. Среди них есть все 46 релевантных, но проблема в том, что пользователь не знает, какие документы смотреть первыми. Это показывает необходимость ранжирования.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показан пример реальной выдачи для запроса о заголовках. В топ попадают документы, где прямо обсуждается информационное содержание заголовков, эффективность поиска по заголовкам и информативность названий статей.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оценки использовались Precision@K и Recall@K. Precision показывает качество первых результатов, а Recall показывает долю найденных релевантных документов. В качестве эталона использовался файл CISI.REL.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диаграмме видно, что BM25 особенно выигрывает по P@1. Это важно, потому что пользователь чаще всего смотрит верхнюю часть выдачи. По P@5 BM25 также показывает лучший средний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Итоговая конфигурация включает стемминг, общий индекс по всем важным полям документа и ранжирование BM25. Это решение оказалось наиболее удачным для корпуса CISI по результатам сравнения.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результате была получена рабочая поисковая система и экспериментальное сравнение моделей. В дальнейшем работу можно развить за счет семантического поиска, векторных представлений и интеграции с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Готов ответить на вопросы по реализации, данным и результатам экспериментов.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38"/>
            <a:ext cx="12191695" cy="201168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45720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pic>
        <p:nvPicPr>
          <p:cNvPr id="5" name="Image 0" descr="/mnt/data/bauman_cres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1213"/>
            <a:ext cx="105133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4754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Федеральное государственное автономное образовательное учреждение высшего образования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«Московский государственный технический университет имени Н. Э. Баумана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(национальный исследовательский университет)»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7116" y="1611007"/>
            <a:ext cx="10881360" cy="0"/>
          </a:xfrm>
          <a:prstGeom prst="line">
            <a:avLst/>
          </a:prstGeom>
          <a:noFill/>
          <a:ln w="17780">
            <a:solidFill>
              <a:srgbClr val="0B1F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847088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НАУЧНО-ИССЛЕДОВАТЕЛЬСКАЯ РАБОТА СТУДЕНТА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0140" y="3149277"/>
            <a:ext cx="9921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Построение и исследование поисковой модели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i="1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 основе датасета CISI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828800" y="4645152"/>
            <a:ext cx="8549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148840" y="4800600"/>
            <a:ext cx="7909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Студент: Корнеев Александр Евгеньевич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Научный руководитель: Волосатова Тамара Михайловна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65105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 г.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Краткое описание датасета CISI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1460 документов; 112 запросов; 76 с разметкой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3749040" cy="39776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blurRad="241935000" dist="161290000"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673352"/>
            <a:ext cx="32461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такое CISI?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148840"/>
            <a:ext cx="32004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CISI — учебно-исследовательская коллекция по библиотечному делу и информатике. Она удобна для НИРС, потому что содержит документы, запросы и эталонную разметку релевантности.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977640"/>
            <a:ext cx="297180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1460 документов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112 запросов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разметка CISI.REL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00600" y="1417320"/>
            <a:ext cx="6629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66360" y="1847088"/>
            <a:ext cx="310896" cy="31089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920240"/>
            <a:ext cx="118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23560" y="18105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CISI.ALL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18013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1460 научных статей и отчетов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21488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корпус документов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66360" y="2898648"/>
            <a:ext cx="310896" cy="31089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971800"/>
            <a:ext cx="118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28620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CISI.QRY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8529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112 запросов на естественном языке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32004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ищет пользователь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66360" y="3950208"/>
            <a:ext cx="310896" cy="310896"/>
          </a:xfrm>
          <a:prstGeom prst="ellipse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4023360"/>
            <a:ext cx="118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23560" y="39136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CISI.REL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39044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пары «запрос — документ»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42519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эталон качества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4800600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Актуальность темы НИРС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Поиск по неструктурированным текстам остается базовой задачей прикладного ИИ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10972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417320"/>
            <a:ext cx="10972800" cy="411480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3619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Почему это важно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60448" y="2249424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3328" y="240487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Рост объема текстов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493008"/>
            <a:ext cx="2743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научные статьи, отчеты, документы, базы знаний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42432" y="2263140"/>
            <a:ext cx="640080" cy="640080"/>
          </a:xfrm>
          <a:prstGeom prst="ellipse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241858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Поиск должен быть точным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3493008"/>
            <a:ext cx="2743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нужно не просто найти совпадение, а поднять релевантные документы наверх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298617" y="2249424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1497" y="240487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Классика нужна для RAG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320" y="3493008"/>
            <a:ext cx="2743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современные LLM-системы используют retrieval как один из ключевых этапов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7150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Актуальность работы заключается в том, что качество поиска напрямую определяет доступность нужной информации для пользователя.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Проблемы, которые решались в работе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 сырого текста до измеримого качества выдачи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137160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4173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Сырые файлы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847088"/>
            <a:ext cx="46177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CISI хранится в специальном формате с маркерами .I, .T, .A, .W, .X. Его нужно корректно распарсить.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137160" cy="1234440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4173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Разные словоформы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1847088"/>
            <a:ext cx="46177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Запрос и документ могут описывать одно и то же, но разными формами слов: library / libraries.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3502152"/>
            <a:ext cx="137160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5021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Слишком широкая выдача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931920"/>
            <a:ext cx="46177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Булев поиск возвращает много документов, но не объясняет, какие из них лучше.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3502152"/>
            <a:ext cx="137160" cy="1234440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5021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Нужна объективная проверка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3931920"/>
            <a:ext cx="46177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Качество модели должно подтверждаться Precision@K и Recall@K по CISI.REL.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и задачи исследования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именно было реализовано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EAF4FB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536192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Цель: разработать и исследовать поисковую модель для коллекции CISI, включая парсинг, предобработку текста, построение инвертированного индекса, реализацию TF‑IDF и BM25 и оценку качества выдачи.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7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963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изучить структуру CISI.ALL, CISI.QRY и CISI.REL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7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24963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разработать парсер документов, запросов и релевантности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1363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7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11810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выполнить очистку, токенизацию, стемминг и лемматизацию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1363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7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311810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построить простые и обогащенные обратные индексы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581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7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73989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реализовать булев поиск, TF‑IDF и BM25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7581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7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73989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сравнить модели по Precision@K и Recall@K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37997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7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3616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выбрать конфигурацию по измеренным метрикам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Датасет CISI: структура и живой пример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Чтобы было понятно, что именно обрабатывает программа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1600200"/>
            <a:ext cx="4709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Формат записи документа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148840"/>
            <a:ext cx="46177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.I 722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.T Information Transfer Limitations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.A (... авторы ...)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.W Some methods of estimating the minimum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amounts of information in a document...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.X ссылки на другие документы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343400"/>
            <a:ext cx="45262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Каждый документ превращается в словарь Python: id, title, author, year, text, x_ref.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50749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 запроса №1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2148840"/>
            <a:ext cx="45720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problems and concerns are there in making up descriptive titles?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difficulties are involved in automatically retrieving articles from approximate titles?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4343400"/>
            <a:ext cx="438912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CISI.REL для этого запроса указано 46 релевантных документов.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Общая схема работы решения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 файлов CISI к ранжированному списку документов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78024" y="3063240"/>
            <a:ext cx="173736" cy="0"/>
          </a:xfrm>
          <a:prstGeom prst="line">
            <a:avLst/>
          </a:prstGeom>
          <a:noFill/>
          <a:ln w="17780">
            <a:solidFill>
              <a:srgbClr val="C49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2544" y="3063240"/>
            <a:ext cx="173736" cy="0"/>
          </a:xfrm>
          <a:prstGeom prst="line">
            <a:avLst/>
          </a:prstGeom>
          <a:noFill/>
          <a:ln w="17780">
            <a:solidFill>
              <a:srgbClr val="C49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27064" y="3063240"/>
            <a:ext cx="173736" cy="0"/>
          </a:xfrm>
          <a:prstGeom prst="line">
            <a:avLst/>
          </a:prstGeom>
          <a:noFill/>
          <a:ln w="17780">
            <a:solidFill>
              <a:srgbClr val="C49A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01584" y="3063240"/>
            <a:ext cx="173736" cy="0"/>
          </a:xfrm>
          <a:prstGeom prst="line">
            <a:avLst/>
          </a:prstGeom>
          <a:noFill/>
          <a:ln w="17780">
            <a:solidFill>
              <a:srgbClr val="C49A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76104" y="3063240"/>
            <a:ext cx="173736" cy="0"/>
          </a:xfrm>
          <a:prstGeom prst="line">
            <a:avLst/>
          </a:prstGeom>
          <a:noFill/>
          <a:ln w="17780">
            <a:solidFill>
              <a:srgbClr val="C49A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331720"/>
            <a:ext cx="15361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78408" y="2670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Файлы CISI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8408" y="30906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/ QRY / REL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2331720"/>
            <a:ext cx="15361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52928" y="2670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Парсер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52928" y="30906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поля и id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2331720"/>
            <a:ext cx="15361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27448" y="2670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Предобработка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27448" y="30906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токены и основы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2331720"/>
            <a:ext cx="15361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01968" y="2670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Индекс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01968" y="30906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TF, DF, IDF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66760" y="2331720"/>
            <a:ext cx="15361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76488" y="2670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76488" y="30906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TF‑IDF / BM25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241280" y="2331720"/>
            <a:ext cx="1536192" cy="1417320"/>
          </a:xfrm>
          <a:prstGeom prst="roundRect">
            <a:avLst>
              <a:gd name="adj" fmla="val 3871"/>
            </a:avLst>
          </a:prstGeom>
          <a:solidFill>
            <a:srgbClr val="FFF3D1"/>
          </a:solidFill>
          <a:ln w="12700">
            <a:solidFill>
              <a:srgbClr val="C49A2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351008" y="2670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Оценка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351008" y="30906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P@K, R@K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4846320"/>
            <a:ext cx="100126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Архитектура разделяет этапы: данные сначала приводятся к единому виду, затем индексируются, затем ранжируются и сравниваются с эталоном.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Предобработка текста: влияние на словарь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Сравнение очистки, стемминга и лемматизации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10744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Предобработка включала приведение к нижнему регистру, токенизацию, удаление стоп‑слов и пунктуации, стемминг Porter и лемматизацию WordNet.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Сырой текст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71800" y="2057400"/>
            <a:ext cx="7772400" cy="310896"/>
          </a:xfrm>
          <a:prstGeom prst="rect">
            <a:avLst/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057400"/>
            <a:ext cx="7499634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27080" y="20939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12610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852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Очистка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71800" y="2807208"/>
            <a:ext cx="7772400" cy="310896"/>
          </a:xfrm>
          <a:prstGeom prst="rect">
            <a:avLst/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71800" y="2807208"/>
            <a:ext cx="6388776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27080" y="28437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10748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6027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Стемминг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71800" y="3557016"/>
            <a:ext cx="7772400" cy="310896"/>
          </a:xfrm>
          <a:prstGeom prst="rect">
            <a:avLst/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3557016"/>
            <a:ext cx="4122481" cy="31089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27080" y="35935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6936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Лемматизация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71800" y="4306824"/>
            <a:ext cx="7772400" cy="310896"/>
          </a:xfrm>
          <a:prstGeom prst="rect">
            <a:avLst/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4306824"/>
            <a:ext cx="5695752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27080" y="43434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9582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321807"/>
            <a:ext cx="10332720" cy="782109"/>
          </a:xfrm>
          <a:prstGeom prst="roundRect">
            <a:avLst>
              <a:gd name="adj" fmla="val 10345"/>
            </a:avLst>
          </a:prstGeom>
          <a:solidFill>
            <a:srgbClr val="EAF4FB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5486400"/>
            <a:ext cx="9966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Стемминг сократил словарь до 55% от сырого. Размер словаря и качество выдачи оцениваются отдельно.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 нормализации: почему стемминг помог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Одна проблема — разные формы одного слова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105613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1737360"/>
            <a:ext cx="10058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Porter объединяет некоторые словоформы, но не все родственные слова. Эффект проверяется по метрикам.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Без обработки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4231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library ≠ libraries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24231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совпадений меньше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337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Лемматизация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33375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libraries → library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33375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точнее, но не всегда объединяет близкие формы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251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Стемминг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11880" y="42519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library / libraries → librari
librarianship → librarianship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42519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агрессивно объединяет словоформы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166360"/>
            <a:ext cx="99212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Выбор стемминга подтверждён наибольшим MAP BM25 среди проверенных вариантов на 76 запросах.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Инвертированный индекс: основа быстрого поиска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 данные стали пригодны для ранжирования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106984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Вместо просмотра всех документов система хранит для каждого термина список документов, где этот термин встречается.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1874520"/>
            <a:ext cx="32461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2148840"/>
            <a:ext cx="2697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Простой индекс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788920"/>
            <a:ext cx="26974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 → [DocID]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Подходит для булевого поиска: можно быстро проверить, где встречается слово.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1874520"/>
            <a:ext cx="32461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148840"/>
            <a:ext cx="2697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Обогащенный индекс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26974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 → DocID, TF, DF, IDF, длина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Нужен для вычисления численного score.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874520"/>
            <a:ext cx="3246120" cy="3154680"/>
          </a:xfrm>
          <a:prstGeom prst="roundRect">
            <a:avLst>
              <a:gd name="adj" fmla="val 2319"/>
            </a:avLst>
          </a:prstGeom>
          <a:solidFill>
            <a:srgbClr val="FFF3D1"/>
          </a:solidFill>
          <a:ln w="12700">
            <a:solidFill>
              <a:srgbClr val="C49A2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0" y="2148840"/>
            <a:ext cx="2697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Полевые индексы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788920"/>
            <a:ext cx="26974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/ author / text / full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Позволяют сравнить, какая часть документа полезнее для поиска.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5532120"/>
            <a:ext cx="10241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Размер индекса stemmed_words: 6936 терминов; text_stemmed: 5734 термина.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Методы поиска и ранжирования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 «нашлось / не нашлось» к оценке релевантности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1709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Булев поиск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167335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/ OR по спискам документов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3800" y="16733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быстро, но без сортировки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31272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TF‑IDF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309067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 × IDF, затем нормализация по длине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3800" y="30906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хороший базовый ранжирующий метод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FF3D1"/>
          </a:solidFill>
          <a:ln w="12700">
            <a:solidFill>
              <a:srgbClr val="C49A2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4544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BM25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08960" y="450799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IDF × насыщение TF × нормализация длины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3800" y="45079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основной алгоритм в итоговом решении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696712"/>
            <a:ext cx="99669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BM25 был выбран как основной метод, потому что учитывает насыщение частоты терма и не дает длинным документам необоснованного преимущества.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Почему одного булевого поиска недостаточно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 на запросе №1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371600"/>
            <a:ext cx="10561320" cy="960120"/>
          </a:xfrm>
          <a:prstGeom prst="roundRect">
            <a:avLst>
              <a:gd name="adj" fmla="val 5714"/>
            </a:avLst>
          </a:prstGeom>
          <a:solidFill>
            <a:srgbClr val="EAF4FB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664208"/>
            <a:ext cx="10012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Запрос №1: проблемы создания описательных заголовков и автоматического поиска статей по приблизительным названиям.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2697480"/>
            <a:ext cx="2971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29718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1034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17320" y="3703320"/>
            <a:ext cx="224028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документа найдено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из 1460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2697480"/>
            <a:ext cx="2971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29718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F7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46 / 46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83480" y="3703320"/>
            <a:ext cx="224028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релевантных документов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попали в множество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2697480"/>
            <a:ext cx="2971800" cy="2240280"/>
          </a:xfrm>
          <a:prstGeom prst="roundRect">
            <a:avLst>
              <a:gd name="adj" fmla="val 3265"/>
            </a:avLst>
          </a:prstGeom>
          <a:solidFill>
            <a:srgbClr val="FFF3D1"/>
          </a:solidFill>
          <a:ln w="12700">
            <a:solidFill>
              <a:srgbClr val="C49A2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29718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549640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понимания порядка: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какие документы лучше?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577840"/>
            <a:ext cx="10241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Вывод: булев поиск дал высокую полноту, но без ранжирования пользователь получил бы слишком большой список.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 работы ранжирования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получает пользователь после BM25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EAF4FB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572768"/>
            <a:ext cx="10241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Запрос №1 из CISI.QRY целиком; BM25, общий стеммированный индекс, k1=1,2, b=0,75.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514600"/>
            <a:ext cx="329184" cy="329184"/>
          </a:xfrm>
          <a:prstGeom prst="ellipse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260604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08760" y="2542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Doc 429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54203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The Information Content of Titles in Engineering Literature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3172968"/>
            <a:ext cx="329184" cy="329184"/>
          </a:xfrm>
          <a:prstGeom prst="ellipse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424" y="326440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08760" y="3200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Doc 722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32004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Information Transfer Limitations of Titles of Chemical Documents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5840" y="3831336"/>
            <a:ext cx="329184" cy="329184"/>
          </a:xfrm>
          <a:prstGeom prst="ellipse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392277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08760" y="38587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Doc 1299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97480" y="385876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Current Physics Information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5840" y="4489704"/>
            <a:ext cx="329184" cy="329184"/>
          </a:xfrm>
          <a:prstGeom prst="ellipse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6424" y="458114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08760" y="451713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Doc 759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97480" y="451713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A New Look at Reference Scattering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623560"/>
            <a:ext cx="10287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Показан результат вычисления BM25. Релевантность проверяется по CISI.REL, а не только по сходству заголовков.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Оценка качества поиска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 результаты сравнивались с эталоном CISI.REL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508760"/>
            <a:ext cx="48463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1828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Precision@K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514600"/>
            <a:ext cx="41148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Доля релевантных документов среди первых K результатов выдачи.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Показывает, насколько полезны верхние позиции.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1508760"/>
            <a:ext cx="48463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828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Recall@K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2514600"/>
            <a:ext cx="41148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Доля найденных релевантных документов от всех релевантных по CISI.REL.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Показывает, сколько нужного удалось вернуть.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Метрики считались на запросах с известной разметкой релевантности; верхние K результатов модели сравнивались с множеством релевантных DocID.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Результаты экспериментов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Сравнение по всем 76 размеченным запросам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234440"/>
            <a:ext cx="106070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Макросредние на 76 запросах с разметкой для stemmed_words; fallback отключён.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43000" y="4937760"/>
            <a:ext cx="992124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3842886"/>
            <a:ext cx="960120" cy="109487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60514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0.3684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P@1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TF‑IDF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0" y="3373655"/>
            <a:ext cx="960120" cy="1564105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3135911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0.5263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P@1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BM25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3889809"/>
            <a:ext cx="960120" cy="1047951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65206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0.3526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P@5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TF‑IDF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69680" y="3670835"/>
            <a:ext cx="960120" cy="1266925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3433091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0.4263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4964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P@5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BM25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0966" y="5650992"/>
            <a:ext cx="10058400" cy="475488"/>
          </a:xfrm>
          <a:prstGeom prst="roundRect">
            <a:avLst>
              <a:gd name="adj" fmla="val 12000"/>
            </a:avLst>
          </a:prstGeom>
          <a:solidFill>
            <a:srgbClr val="FFF3D1"/>
          </a:solidFill>
          <a:ln w="12700">
            <a:solidFill>
              <a:srgbClr val="C49A2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49527" y="5769864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BM25: MAP=0,2281; TF-IDF: MAP=0,1995. P@1 выше примерно в 1,43 раза; не для каждого запроса.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Итоговое решение и ограничения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Выбор среди проверенных конфигураций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1353312"/>
            <a:ext cx="102412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15087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Предобработка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49047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стемминг Porter + удаление стоп‑слов и пунктуации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2157984"/>
            <a:ext cx="102412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4440" y="2313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Индекс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29514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общий stemmed_words: заголовок + авторы + основной текст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2962656"/>
            <a:ext cx="10241280" cy="512064"/>
          </a:xfrm>
          <a:prstGeom prst="roundRect">
            <a:avLst>
              <a:gd name="adj" fmla="val 8929"/>
            </a:avLst>
          </a:prstGeom>
          <a:solidFill>
            <a:srgbClr val="FFF3D1"/>
          </a:solidFill>
          <a:ln w="12700">
            <a:solidFill>
              <a:srgbClr val="C49A2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34440" y="31181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Ранжирование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11880" y="3099816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BM25 с параметрами k1 = 1,2 и b = 0,75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" y="3767328"/>
            <a:ext cx="102412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34440" y="392277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Fallback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11880" y="390448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поиск по общему индексу, если в выбранной секции нет результатов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4572000"/>
            <a:ext cx="102412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34440" y="47274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Оценка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11880" y="47091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P@K, R@K и MAP по 76 запросам CISI.REL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687568"/>
            <a:ext cx="10241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BM25 + стемминг + общий индекс. Нормализация длины встроена в BM25; параметры не оптимизировались.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Итоги работы и направления развития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822960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было получено в результате НИРС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2700">
            <a:solidFill>
              <a:srgbClr val="C9D8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65408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19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НИРС: поисковая модель на основе CISI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325880"/>
            <a:ext cx="4617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реализован парсер CISI.ALL, CISI.QRY и CISI.REL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13533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1325880"/>
            <a:ext cx="4617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созданы варианты предобработки: очистка, стемминг, лемматизация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121408"/>
            <a:ext cx="4617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построены простые и обогащенные обратные индексы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1488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2121408"/>
            <a:ext cx="4617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реализованы булев поиск, TF‑IDF с нормализацией и BM25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9443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916936"/>
            <a:ext cx="4617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проведено сравнение по Precision@K и Recall@K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9443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49A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2916936"/>
            <a:ext cx="4617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обоснован выбор BM25 как основной модели ранжирования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4571999"/>
            <a:ext cx="10241280" cy="742203"/>
          </a:xfrm>
          <a:prstGeom prst="roundRect">
            <a:avLst>
              <a:gd name="adj" fmla="val 8571"/>
            </a:avLst>
          </a:prstGeom>
          <a:solidFill>
            <a:srgbClr val="EAF4FB"/>
          </a:solidFill>
          <a:ln w="12700">
            <a:solidFill>
              <a:srgbClr val="C9D8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4773168"/>
            <a:ext cx="98298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Работа демонстрирует полный цикл построения поисковой системы: от сырого корпуса документов до экспериментального выбора лучшей модели.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623559"/>
            <a:ext cx="10149840" cy="48463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Дальнейшее развитие: отдельная валидация параметров, nDCG, семантический и гибридный поиск.</a:t>
            </a:r>
            <a:endParaRPr lang="en-US" sz="14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45720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306324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A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Спасибо за внимание!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2205</Words>
  <Application>Microsoft Office PowerPoint</Application>
  <PresentationFormat>Широкоэкранный</PresentationFormat>
  <Paragraphs>305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МГТУ им. Н.Э. Баумана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Конференционная презентация НИРС CISI</dc:title>
  <dc:subject>Построение и исследование поисковой модели на основе датасета CISI</dc:subject>
  <dc:creator>Корнеев Александр Евгеньевич</dc:creator>
  <cp:lastModifiedBy>Alexander Korneev</cp:lastModifiedBy>
  <cp:revision>3</cp:revision>
  <dcterms:created xsi:type="dcterms:W3CDTF">2026-05-29T11:38:58Z</dcterms:created>
  <dcterms:modified xsi:type="dcterms:W3CDTF">2026-06-01T10:16:12Z</dcterms:modified>
</cp:coreProperties>
</file>